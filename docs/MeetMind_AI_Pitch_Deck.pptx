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640080" cy="640080"/>
          </a:xfrm>
          <a:prstGeom prst="roundRect">
            <a:avLst>
              <a:gd name="adj" fmla="val 5000"/>
            </a:avLst>
          </a:prstGeom>
          <a:solidFill>
            <a:srgbClr val="00C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200">
                <a:solidFill>
                  <a:srgbClr val="0A1728"/>
                </a:solidFill>
              </a:rPr>
              <a:t>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114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4400">
                <a:solidFill>
                  <a:srgbClr val="FFFFFF"/>
                </a:solidFill>
              </a:rPr>
              <a:t>MeetMind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1430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2000">
                <a:solidFill>
                  <a:srgbClr val="00C9B8"/>
                </a:solidFill>
              </a:rPr>
              <a:t>Your AI Co-Pilot for Every Meeting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7373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A0AFC4"/>
                </a:solidFill>
              </a:rPr>
              <a:t>Turn meeting time into your
competitive advantage.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46120"/>
            <a:ext cx="11274552" cy="36576"/>
          </a:xfrm>
          <a:prstGeom prst="rect">
            <a:avLst/>
          </a:prstGeom>
          <a:solidFill>
            <a:srgbClr val="00C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3474720"/>
            <a:ext cx="2743200" cy="2560320"/>
          </a:xfrm>
          <a:prstGeom prst="roundRect">
            <a:avLst>
              <a:gd name="adj" fmla="val 5000"/>
            </a:avLst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474720"/>
            <a:ext cx="2743200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65760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3600">
                <a:solidFill>
                  <a:srgbClr val="FFFFFF"/>
                </a:solidFill>
              </a:rPr>
              <a:t>$37B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806086"/>
            <a:ext cx="2468880" cy="896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300">
                <a:solidFill>
                  <a:srgbClr val="EF4444"/>
                </a:solidFill>
              </a:rPr>
              <a:t>wasted yearly
in unproductive meetings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3474720"/>
            <a:ext cx="2743200" cy="2560320"/>
          </a:xfrm>
          <a:prstGeom prst="roundRect">
            <a:avLst>
              <a:gd name="adj" fmla="val 5000"/>
            </a:avLst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3474720"/>
            <a:ext cx="274320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365760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3600">
                <a:solidFill>
                  <a:srgbClr val="FFFFFF"/>
                </a:solidFill>
              </a:rPr>
              <a:t>55M+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4806086"/>
            <a:ext cx="2468880" cy="896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300">
                <a:solidFill>
                  <a:srgbClr val="F59E0B"/>
                </a:solidFill>
              </a:rPr>
              <a:t>meetings held daily
in the US alone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474720"/>
            <a:ext cx="2743200" cy="2560320"/>
          </a:xfrm>
          <a:prstGeom prst="roundRect">
            <a:avLst>
              <a:gd name="adj" fmla="val 5000"/>
            </a:avLst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3474720"/>
            <a:ext cx="2743200" cy="64008"/>
          </a:xfrm>
          <a:prstGeom prst="rect">
            <a:avLst/>
          </a:prstGeom>
          <a:solidFill>
            <a:srgbClr val="38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65760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3600">
                <a:solidFill>
                  <a:srgbClr val="FFFFFF"/>
                </a:solidFill>
              </a:rPr>
              <a:t>40%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806086"/>
            <a:ext cx="2468880" cy="896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300">
                <a:solidFill>
                  <a:srgbClr val="389FFF"/>
                </a:solidFill>
              </a:rPr>
              <a:t>of workday spent
in meetings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3474720"/>
            <a:ext cx="2496312" cy="2560320"/>
          </a:xfrm>
          <a:prstGeom prst="roundRect">
            <a:avLst>
              <a:gd name="adj" fmla="val 5000"/>
            </a:avLst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35440" y="3474720"/>
            <a:ext cx="249631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72600" y="3657600"/>
            <a:ext cx="222199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3600">
                <a:solidFill>
                  <a:srgbClr val="FFFFFF"/>
                </a:solidFill>
              </a:rPr>
              <a:t>600M+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4806086"/>
            <a:ext cx="2221992" cy="896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300">
                <a:solidFill>
                  <a:srgbClr val="10B981"/>
                </a:solidFill>
              </a:rPr>
              <a:t>Teams + Zoom
daily active users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900">
                <a:solidFill>
                  <a:srgbClr val="3D526B"/>
                </a:solidFill>
              </a:rPr>
              <a:t>INVESTOR PRESENTATION  •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000">
                <a:solidFill>
                  <a:srgbClr val="FFFFFF"/>
                </a:solidFill>
              </a:rPr>
              <a:t>The $37 Billion Meeting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A0AFC4"/>
                </a:solidFill>
              </a:rPr>
              <a:t>Meetings are the single biggest drain on knowledge-worker productivity — yet nothing has fundamentally changed.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04672"/>
            <a:ext cx="1097280" cy="54864"/>
          </a:xfrm>
          <a:prstGeom prst="rect">
            <a:avLst/>
          </a:prstGeom>
          <a:solidFill>
            <a:srgbClr val="00C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4552" cy="18288"/>
          </a:xfrm>
          <a:prstGeom prst="rect">
            <a:avLst/>
          </a:prstGeom>
          <a:solidFill>
            <a:srgbClr val="3D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274552" cy="1188720"/>
          </a:xfrm>
          <a:prstGeom prst="roundRect">
            <a:avLst>
              <a:gd name="adj" fmla="val 5000"/>
            </a:avLst>
          </a:prstGeom>
          <a:solidFill>
            <a:srgbClr val="20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09728" cy="1188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500">
                <a:solidFill>
                  <a:srgbClr val="FFFFFF"/>
                </a:solidFill>
              </a:rPr>
              <a:t>"I know we discussed this in the last meeting… does anyone remember what we decided?"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97480"/>
            <a:ext cx="5623560" cy="1920240"/>
          </a:xfrm>
          <a:prstGeom prst="roundRect">
            <a:avLst>
              <a:gd name="adj" fmla="val 5000"/>
            </a:avLst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697480"/>
            <a:ext cx="562356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834640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EF4444"/>
                </a:solidFill>
              </a:rPr>
              <a:t>🗂  Decisions Forgotten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200400"/>
            <a:ext cx="5349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FC4"/>
                </a:solidFill>
              </a:rPr>
              <a:t>  •  Action items lost by the end of the call</a:t>
            </a:r>
          </a:p>
          <a:p>
            <a:pPr algn="l"/>
            <a:r>
              <a:rPr sz="1200" b="0">
                <a:solidFill>
                  <a:srgbClr val="A0AFC4"/>
                </a:solidFill>
              </a:rPr>
              <a:t>  •  No record of who said what and when</a:t>
            </a:r>
          </a:p>
          <a:p>
            <a:pPr algn="l"/>
            <a:r>
              <a:rPr sz="1200" b="0">
                <a:solidFill>
                  <a:srgbClr val="A0AFC4"/>
                </a:solidFill>
              </a:rPr>
              <a:t>  •  Context disappears the moment the call ends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2697480"/>
            <a:ext cx="5623560" cy="1920240"/>
          </a:xfrm>
          <a:prstGeom prst="roundRect">
            <a:avLst>
              <a:gd name="adj" fmla="val 5000"/>
            </a:avLst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2697480"/>
            <a:ext cx="562356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834640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EF4444"/>
                </a:solidFill>
              </a:rPr>
              <a:t>⚠️  Contradictions Ignored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200400"/>
            <a:ext cx="5349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FC4"/>
                </a:solidFill>
              </a:rPr>
              <a:t>  •  People repeat conflicting statements</a:t>
            </a:r>
          </a:p>
          <a:p>
            <a:pPr algn="l"/>
            <a:r>
              <a:rPr sz="1200" b="0">
                <a:solidFill>
                  <a:srgbClr val="A0AFC4"/>
                </a:solidFill>
              </a:rPr>
              <a:t>  •  Nobody calls them out — meetings move on</a:t>
            </a:r>
          </a:p>
          <a:p>
            <a:pPr algn="l"/>
            <a:r>
              <a:rPr sz="1200" b="0">
                <a:solidFill>
                  <a:srgbClr val="A0AFC4"/>
                </a:solidFill>
              </a:rPr>
              <a:t>  •  Decisions built on flawed premises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663440"/>
            <a:ext cx="5623560" cy="1920240"/>
          </a:xfrm>
          <a:prstGeom prst="roundRect">
            <a:avLst>
              <a:gd name="adj" fmla="val 5000"/>
            </a:avLst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663440"/>
            <a:ext cx="562356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800600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EF4444"/>
                </a:solidFill>
              </a:rPr>
              <a:t>🔄  Meeting Fatigue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166359"/>
            <a:ext cx="5349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FC4"/>
                </a:solidFill>
              </a:rPr>
              <a:t>  •  Avg. executive: 23 hrs / week in meetings</a:t>
            </a:r>
          </a:p>
          <a:p>
            <a:pPr algn="l"/>
            <a:r>
              <a:rPr sz="1200" b="0">
                <a:solidFill>
                  <a:srgbClr val="A0AFC4"/>
                </a:solidFill>
              </a:rPr>
              <a:t>  •  60% of meetings have no clear outcome</a:t>
            </a:r>
          </a:p>
          <a:p>
            <a:pPr algn="l"/>
            <a:r>
              <a:rPr sz="1200" b="0">
                <a:solidFill>
                  <a:srgbClr val="A0AFC4"/>
                </a:solidFill>
              </a:rPr>
              <a:t>  •  Same topics re-litigated every sprint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4663440"/>
            <a:ext cx="5623560" cy="1920240"/>
          </a:xfrm>
          <a:prstGeom prst="roundRect">
            <a:avLst>
              <a:gd name="adj" fmla="val 5000"/>
            </a:avLst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4663440"/>
            <a:ext cx="562356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4800600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EF4444"/>
                </a:solidFill>
              </a:rPr>
              <a:t>📉  Productivity Collapse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166359"/>
            <a:ext cx="5349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FC4"/>
                </a:solidFill>
              </a:rPr>
              <a:t>  •  $37B lost annually (Harvard Business Review)</a:t>
            </a:r>
          </a:p>
          <a:p>
            <a:pPr algn="l"/>
            <a:r>
              <a:rPr sz="1200" b="0">
                <a:solidFill>
                  <a:srgbClr val="A0AFC4"/>
                </a:solidFill>
              </a:rPr>
              <a:t>  •  Meeting ROI is never measured</a:t>
            </a:r>
          </a:p>
          <a:p>
            <a:pPr algn="l"/>
            <a:r>
              <a:rPr sz="1200" b="0">
                <a:solidFill>
                  <a:srgbClr val="A0AFC4"/>
                </a:solidFill>
              </a:rPr>
              <a:t>  •  Teams feel they're talking but not deciding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3D526B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000">
                <a:solidFill>
                  <a:srgbClr val="FFFFFF"/>
                </a:solidFill>
              </a:rPr>
              <a:t>Introducing MeetMind AI — Alex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A0AFC4"/>
                </a:solidFill>
              </a:rPr>
              <a:t>An AI participant that joins your meeting, listens, understands context, and speaks up at exactly the right moment.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04672"/>
            <a:ext cx="1097280" cy="54864"/>
          </a:xfrm>
          <a:prstGeom prst="rect">
            <a:avLst/>
          </a:prstGeom>
          <a:solidFill>
            <a:srgbClr val="00C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4552" cy="18288"/>
          </a:xfrm>
          <a:prstGeom prst="rect">
            <a:avLst/>
          </a:prstGeom>
          <a:solidFill>
            <a:srgbClr val="3D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274552" cy="822960"/>
          </a:xfrm>
          <a:prstGeom prst="roundRect">
            <a:avLst>
              <a:gd name="adj" fmla="val 5000"/>
            </a:avLst>
          </a:prstGeom>
          <a:solidFill>
            <a:srgbClr val="0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09728" cy="822960"/>
          </a:xfrm>
          <a:prstGeom prst="rect">
            <a:avLst/>
          </a:prstGeom>
          <a:solidFill>
            <a:srgbClr val="00C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FFFFFF"/>
                </a:solidFill>
              </a:rPr>
              <a:t>Alex joins your Teams or Zoom call as a bot — no downloads, no interruptions. It listens to the live conversation, builds a real-time model of what's being discussed, and proactively surfaces insights before the moment passes.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377440"/>
            <a:ext cx="5623560" cy="1920240"/>
          </a:xfrm>
          <a:prstGeom prst="roundRect">
            <a:avLst>
              <a:gd name="adj" fmla="val 5000"/>
            </a:avLst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377440"/>
            <a:ext cx="5623560" cy="54864"/>
          </a:xfrm>
          <a:prstGeom prst="rect">
            <a:avLst/>
          </a:prstGeom>
          <a:solidFill>
            <a:srgbClr val="00C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00C9B8"/>
                </a:solidFill>
              </a:rPr>
              <a:t>🎙  Voice Commands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880360"/>
            <a:ext cx="5349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FC4"/>
                </a:solidFill>
              </a:rPr>
              <a:t>  •  "Alex, summarize that"</a:t>
            </a:r>
          </a:p>
          <a:p>
            <a:pPr algn="l"/>
            <a:r>
              <a:rPr sz="1200" b="0">
                <a:solidFill>
                  <a:srgbClr val="A0AFC4"/>
                </a:solidFill>
              </a:rPr>
              <a:t>  •  "Alex, what are the risks?"</a:t>
            </a:r>
          </a:p>
          <a:p>
            <a:pPr algn="l"/>
            <a:r>
              <a:rPr sz="1200" b="0">
                <a:solidFill>
                  <a:srgbClr val="A0AFC4"/>
                </a:solidFill>
              </a:rPr>
              <a:t>  •  Instant spoken replies on Teams / Zoom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2377440"/>
            <a:ext cx="5623560" cy="1920240"/>
          </a:xfrm>
          <a:prstGeom prst="roundRect">
            <a:avLst>
              <a:gd name="adj" fmla="val 5000"/>
            </a:avLst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2377440"/>
            <a:ext cx="5623560" cy="54864"/>
          </a:xfrm>
          <a:prstGeom prst="rect">
            <a:avLst/>
          </a:prstGeom>
          <a:solidFill>
            <a:srgbClr val="38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514600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389FFF"/>
                </a:solidFill>
              </a:rPr>
              <a:t>🧠  Proactive Intelligence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880360"/>
            <a:ext cx="5349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FC4"/>
                </a:solidFill>
              </a:rPr>
              <a:t>  •  Detects contradictions in real-time</a:t>
            </a:r>
          </a:p>
          <a:p>
            <a:pPr algn="l"/>
            <a:r>
              <a:rPr sz="1200" b="0">
                <a:solidFill>
                  <a:srgbClr val="A0AFC4"/>
                </a:solidFill>
              </a:rPr>
              <a:t>  •  Flags overlooked risks before decisions</a:t>
            </a:r>
          </a:p>
          <a:p>
            <a:pPr algn="l"/>
            <a:r>
              <a:rPr sz="1200" b="0">
                <a:solidFill>
                  <a:srgbClr val="A0AFC4"/>
                </a:solidFill>
              </a:rPr>
              <a:t>  •  Surfaces forgotten context at the right moment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343400"/>
            <a:ext cx="5623560" cy="1920240"/>
          </a:xfrm>
          <a:prstGeom prst="roundRect">
            <a:avLst>
              <a:gd name="adj" fmla="val 5000"/>
            </a:avLst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343400"/>
            <a:ext cx="56235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480560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10B981"/>
                </a:solidFill>
              </a:rPr>
              <a:t>📋  Decision Tracking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846320"/>
            <a:ext cx="5349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FC4"/>
                </a:solidFill>
              </a:rPr>
              <a:t>  •  Captures every decision proposed</a:t>
            </a:r>
          </a:p>
          <a:p>
            <a:pPr algn="l"/>
            <a:r>
              <a:rPr sz="1200" b="0">
                <a:solidFill>
                  <a:srgbClr val="A0AFC4"/>
                </a:solidFill>
              </a:rPr>
              <a:t>  •  Tracks status: proposed → confirmed</a:t>
            </a:r>
          </a:p>
          <a:p>
            <a:pPr algn="l"/>
            <a:r>
              <a:rPr sz="1200" b="0">
                <a:solidFill>
                  <a:srgbClr val="A0AFC4"/>
                </a:solidFill>
              </a:rPr>
              <a:t>  •  Alerts when decisions conflict with concerns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4343400"/>
            <a:ext cx="5623560" cy="1920240"/>
          </a:xfrm>
          <a:prstGeom prst="roundRect">
            <a:avLst>
              <a:gd name="adj" fmla="val 5000"/>
            </a:avLst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4343400"/>
            <a:ext cx="56235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4480560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F59E0B"/>
                </a:solidFill>
              </a:rPr>
              <a:t>🔁  Pattern Detection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846320"/>
            <a:ext cx="5349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FC4"/>
                </a:solidFill>
              </a:rPr>
              <a:t>  •  Repeated confusion loops surfaced</a:t>
            </a:r>
          </a:p>
          <a:p>
            <a:pPr algn="l"/>
            <a:r>
              <a:rPr sz="1200" b="0">
                <a:solidFill>
                  <a:srgbClr val="A0AFC4"/>
                </a:solidFill>
              </a:rPr>
              <a:t>  •  Topic drift caught before it's too late</a:t>
            </a:r>
          </a:p>
          <a:p>
            <a:pPr algn="l"/>
            <a:r>
              <a:rPr sz="1200" b="0">
                <a:solidFill>
                  <a:srgbClr val="A0AFC4"/>
                </a:solidFill>
              </a:rPr>
              <a:t>  •  Collaboration opportunities identified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3D526B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000">
                <a:solidFill>
                  <a:srgbClr val="FFFFFF"/>
                </a:solidFill>
              </a:rPr>
              <a:t>How It Works — The 4-Step Intelligence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A0AFC4"/>
                </a:solidFill>
              </a:rPr>
              <a:t>From spoken word to real-time insight in under 500 ms.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04672"/>
            <a:ext cx="1097280" cy="54864"/>
          </a:xfrm>
          <a:prstGeom prst="rect">
            <a:avLst/>
          </a:prstGeom>
          <a:solidFill>
            <a:srgbClr val="00C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4552" cy="18288"/>
          </a:xfrm>
          <a:prstGeom prst="rect">
            <a:avLst/>
          </a:prstGeom>
          <a:solidFill>
            <a:srgbClr val="3D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25880" y="1417320"/>
            <a:ext cx="1097280" cy="1097280"/>
          </a:xfrm>
          <a:prstGeom prst="roundRect">
            <a:avLst>
              <a:gd name="adj" fmla="val 5000"/>
            </a:avLst>
          </a:prstGeom>
          <a:solidFill>
            <a:srgbClr val="00C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141732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800">
                <a:solidFill>
                  <a:srgbClr val="0A1728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00C9B8"/>
                </a:solidFill>
              </a:rPr>
              <a:t>JOINS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154680"/>
            <a:ext cx="2834640" cy="2011680"/>
          </a:xfrm>
          <a:prstGeom prst="roundRect">
            <a:avLst>
              <a:gd name="adj" fmla="val 5000"/>
            </a:avLst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154680"/>
            <a:ext cx="2834640" cy="54864"/>
          </a:xfrm>
          <a:prstGeom prst="rect">
            <a:avLst/>
          </a:prstGeom>
          <a:solidFill>
            <a:srgbClr val="00C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29184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A0AFC4"/>
                </a:solidFill>
              </a:rPr>
              <a:t>Alex enters Teams / Zoom as
a bot participant via Recall.ai.
No host action required.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7373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200">
                <a:solidFill>
                  <a:srgbClr val="3D526B"/>
                </a:solidFill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1417320"/>
            <a:ext cx="1097280" cy="1097280"/>
          </a:xfrm>
          <a:prstGeom prst="roundRect">
            <a:avLst>
              <a:gd name="adj" fmla="val 5000"/>
            </a:avLst>
          </a:prstGeom>
          <a:solidFill>
            <a:srgbClr val="38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141732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800">
                <a:solidFill>
                  <a:srgbClr val="0A1728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6517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389FFF"/>
                </a:solidFill>
              </a:rPr>
              <a:t>LISTENS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3154680"/>
            <a:ext cx="2834640" cy="2011680"/>
          </a:xfrm>
          <a:prstGeom prst="roundRect">
            <a:avLst>
              <a:gd name="adj" fmla="val 5000"/>
            </a:avLst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80" y="3154680"/>
            <a:ext cx="2834640" cy="54864"/>
          </a:xfrm>
          <a:prstGeom prst="rect">
            <a:avLst/>
          </a:prstGeom>
          <a:solidFill>
            <a:srgbClr val="38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0440" y="329184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A0AFC4"/>
                </a:solidFill>
              </a:rPr>
              <a:t>Real-time transcript streamed
with speaker identification.
Full conversation in memory.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17373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200">
                <a:solidFill>
                  <a:srgbClr val="3D526B"/>
                </a:solidFill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78040" y="1417320"/>
            <a:ext cx="1097280" cy="1097280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78040" y="141732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800">
                <a:solidFill>
                  <a:srgbClr val="0A1728"/>
                </a:solidFill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6517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10B981"/>
                </a:solidFill>
              </a:rPr>
              <a:t>UNDERSTANDS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54680"/>
            <a:ext cx="2834640" cy="2011680"/>
          </a:xfrm>
          <a:prstGeom prst="roundRect">
            <a:avLst>
              <a:gd name="adj" fmla="val 5000"/>
            </a:avLst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3154680"/>
            <a:ext cx="28346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29184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A0AFC4"/>
                </a:solidFill>
              </a:rPr>
              <a:t>Context Engine builds a live
model: topics, decisions, risks,
concerns, open questions.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17373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200">
                <a:solidFill>
                  <a:srgbClr val="3D526B"/>
                </a:solidFill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04120" y="1417320"/>
            <a:ext cx="1097280" cy="1097280"/>
          </a:xfrm>
          <a:prstGeom prst="roundRect">
            <a:avLst>
              <a:gd name="adj" fmla="val 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04120" y="141732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800">
                <a:solidFill>
                  <a:srgbClr val="0A1728"/>
                </a:solidFill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26517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F59E0B"/>
                </a:solidFill>
              </a:rPr>
              <a:t>CONTRIBUTES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35440" y="3154680"/>
            <a:ext cx="2834640" cy="2011680"/>
          </a:xfrm>
          <a:prstGeom prst="roundRect">
            <a:avLst>
              <a:gd name="adj" fmla="val 5000"/>
            </a:avLst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235440" y="3154680"/>
            <a:ext cx="28346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72600" y="329184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A0AFC4"/>
                </a:solidFill>
              </a:rPr>
              <a:t>Trigger Engine + GPT-4 fires
insights to chat or speaks
aloud — only when it matters.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00400" y="5394960"/>
            <a:ext cx="5788152" cy="822960"/>
          </a:xfrm>
          <a:prstGeom prst="roundRect">
            <a:avLst>
              <a:gd name="adj" fmla="val 5000"/>
            </a:avLst>
          </a:prstGeom>
          <a:solidFill>
            <a:srgbClr val="0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0" y="5440680"/>
            <a:ext cx="5788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200">
                <a:solidFill>
                  <a:srgbClr val="00C9B8"/>
                </a:solidFill>
              </a:rPr>
              <a:t>⚡  End-to-end latency under 500 ms  •  Runs alongside the meeting, never interrupts the flow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3D526B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000">
                <a:solidFill>
                  <a:srgbClr val="FFFFFF"/>
                </a:solidFill>
              </a:rPr>
              <a:t>12 Types of Meeting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A0AFC4"/>
                </a:solidFill>
              </a:rPr>
              <a:t>Multi-layer detection pipeline: local scoring → LLM adjudication → response generation.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04672"/>
            <a:ext cx="1097280" cy="54864"/>
          </a:xfrm>
          <a:prstGeom prst="rect">
            <a:avLst/>
          </a:prstGeom>
          <a:solidFill>
            <a:srgbClr val="00C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4552" cy="18288"/>
          </a:xfrm>
          <a:prstGeom prst="rect">
            <a:avLst/>
          </a:prstGeom>
          <a:solidFill>
            <a:srgbClr val="3D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3749039" cy="1188720"/>
          </a:xfrm>
          <a:prstGeom prst="roundRect">
            <a:avLst>
              <a:gd name="adj" fmla="val 5000"/>
            </a:avLst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73152" cy="1188720"/>
          </a:xfrm>
          <a:prstGeom prst="rect">
            <a:avLst/>
          </a:prstGeom>
          <a:solidFill>
            <a:srgbClr val="00C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5087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</a:rPr>
              <a:t>Voice Command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A0AFC4"/>
                </a:solidFill>
              </a:rPr>
              <a:t>Direct spoken requests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17320"/>
            <a:ext cx="3749039" cy="1188720"/>
          </a:xfrm>
          <a:prstGeom prst="roundRect">
            <a:avLst>
              <a:gd name="adj" fmla="val 5000"/>
            </a:avLst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417320"/>
            <a:ext cx="73152" cy="1188720"/>
          </a:xfrm>
          <a:prstGeom prst="rect">
            <a:avLst/>
          </a:prstGeom>
          <a:solidFill>
            <a:srgbClr val="00C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5087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</a:rPr>
              <a:t>Explicit Chat Command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9202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A0AFC4"/>
                </a:solidFill>
              </a:rPr>
              <a:t>@Alex commands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417320"/>
            <a:ext cx="3749039" cy="1188720"/>
          </a:xfrm>
          <a:prstGeom prst="roundRect">
            <a:avLst>
              <a:gd name="adj" fmla="val 5000"/>
            </a:avLst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1417320"/>
            <a:ext cx="73152" cy="1188720"/>
          </a:xfrm>
          <a:prstGeom prst="rect">
            <a:avLst/>
          </a:prstGeom>
          <a:solidFill>
            <a:srgbClr val="38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22208" y="15087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</a:rPr>
              <a:t>Decision Forming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8" y="19202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A0AFC4"/>
                </a:solidFill>
              </a:rPr>
              <a:t>Decision language detected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743200"/>
            <a:ext cx="3749039" cy="1188720"/>
          </a:xfrm>
          <a:prstGeom prst="roundRect">
            <a:avLst>
              <a:gd name="adj" fmla="val 5000"/>
            </a:avLst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2743200"/>
            <a:ext cx="73152" cy="1188720"/>
          </a:xfrm>
          <a:prstGeom prst="rect">
            <a:avLst/>
          </a:prstGeom>
          <a:solidFill>
            <a:srgbClr val="38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28346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</a:rPr>
              <a:t>Conflict Detected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2461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A0AFC4"/>
                </a:solidFill>
              </a:rPr>
              <a:t>Positions in opposition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2743200"/>
            <a:ext cx="3749039" cy="1188720"/>
          </a:xfrm>
          <a:prstGeom prst="roundRect">
            <a:avLst>
              <a:gd name="adj" fmla="val 5000"/>
            </a:avLst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0" y="2743200"/>
            <a:ext cx="73152" cy="1188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0288" y="28346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</a:rPr>
              <a:t>Contradiction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32461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A0AFC4"/>
                </a:solidFill>
              </a:rPr>
              <a:t>Factual flip between speakers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2743200"/>
            <a:ext cx="3749039" cy="1188720"/>
          </a:xfrm>
          <a:prstGeom prst="roundRect">
            <a:avLst>
              <a:gd name="adj" fmla="val 5000"/>
            </a:avLst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0" y="2743200"/>
            <a:ext cx="73152" cy="1188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22208" y="28346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</a:rPr>
              <a:t>Factual Inconsistency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22208" y="32461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A0AFC4"/>
                </a:solidFill>
              </a:rPr>
              <a:t>Numbers / facts don't match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069080"/>
            <a:ext cx="3749039" cy="1188720"/>
          </a:xfrm>
          <a:prstGeom prst="roundRect">
            <a:avLst>
              <a:gd name="adj" fmla="val 5000"/>
            </a:avLst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069080"/>
            <a:ext cx="73152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41605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</a:rPr>
              <a:t>Risk Overlooked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45720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A0AFC4"/>
                </a:solidFill>
              </a:rPr>
              <a:t>Concern not addressed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89120" y="4069080"/>
            <a:ext cx="3749039" cy="1188720"/>
          </a:xfrm>
          <a:prstGeom prst="roundRect">
            <a:avLst>
              <a:gd name="adj" fmla="val 5000"/>
            </a:avLst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89120" y="4069080"/>
            <a:ext cx="73152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90288" y="41605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</a:rPr>
              <a:t>Memory Gap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90288" y="45720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A0AFC4"/>
                </a:solidFill>
              </a:rPr>
              <a:t>Someone trying to recall earlier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21040" y="4069080"/>
            <a:ext cx="3749039" cy="1188720"/>
          </a:xfrm>
          <a:prstGeom prst="roundRect">
            <a:avLst>
              <a:gd name="adj" fmla="val 5000"/>
            </a:avLst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321040" y="4069080"/>
            <a:ext cx="73152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22208" y="41605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</a:rPr>
              <a:t>Repeated Confusion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22208" y="45720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A0AFC4"/>
                </a:solidFill>
              </a:rPr>
              <a:t>Multiple confusion signals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5394959"/>
            <a:ext cx="3749039" cy="1188720"/>
          </a:xfrm>
          <a:prstGeom prst="roundRect">
            <a:avLst>
              <a:gd name="adj" fmla="val 5000"/>
            </a:avLst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" y="5394959"/>
            <a:ext cx="73152" cy="1188720"/>
          </a:xfrm>
          <a:prstGeom prst="rect">
            <a:avLst/>
          </a:prstGeom>
          <a:solidFill>
            <a:srgbClr val="3D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" y="548639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</a:rPr>
              <a:t>Circular Discussion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5897879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A0AFC4"/>
                </a:solidFill>
              </a:rPr>
              <a:t>Same loop detected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89120" y="5394959"/>
            <a:ext cx="3749039" cy="1188720"/>
          </a:xfrm>
          <a:prstGeom prst="roundRect">
            <a:avLst>
              <a:gd name="adj" fmla="val 5000"/>
            </a:avLst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389120" y="5394959"/>
            <a:ext cx="73152" cy="1188720"/>
          </a:xfrm>
          <a:prstGeom prst="rect">
            <a:avLst/>
          </a:prstGeom>
          <a:solidFill>
            <a:srgbClr val="3D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90288" y="548639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</a:rPr>
              <a:t>Topic Drift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90288" y="5897879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A0AFC4"/>
                </a:solidFill>
              </a:rPr>
              <a:t>Agenda deviation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321040" y="5394959"/>
            <a:ext cx="3749039" cy="1188720"/>
          </a:xfrm>
          <a:prstGeom prst="roundRect">
            <a:avLst>
              <a:gd name="adj" fmla="val 5000"/>
            </a:avLst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321040" y="5394959"/>
            <a:ext cx="73152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22208" y="548639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</a:rPr>
              <a:t>Collaboration Opp.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22208" y="5897879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A0AFC4"/>
                </a:solidFill>
              </a:rPr>
              <a:t>Connects silos in real-time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3D526B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000">
                <a:solidFill>
                  <a:srgbClr val="FFFFFF"/>
                </a:solidFill>
              </a:rPr>
              <a:t>A Massive and Fast-Growing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A0AFC4"/>
                </a:solidFill>
              </a:rPr>
              <a:t>We sit at the intersection of three multi-billion dollar markets, all expanding simultaneously.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04672"/>
            <a:ext cx="1097280" cy="54864"/>
          </a:xfrm>
          <a:prstGeom prst="rect">
            <a:avLst/>
          </a:prstGeom>
          <a:solidFill>
            <a:srgbClr val="00C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4552" cy="18288"/>
          </a:xfrm>
          <a:prstGeom prst="rect">
            <a:avLst/>
          </a:prstGeom>
          <a:solidFill>
            <a:srgbClr val="3D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371600"/>
            <a:ext cx="3200400" cy="3200400"/>
          </a:xfrm>
          <a:prstGeom prst="roundRect">
            <a:avLst>
              <a:gd name="adj" fmla="val 5000"/>
            </a:avLst>
          </a:prstGeom>
          <a:solidFill>
            <a:srgbClr val="0F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371600"/>
            <a:ext cx="3200400" cy="73152"/>
          </a:xfrm>
          <a:prstGeom prst="rect">
            <a:avLst/>
          </a:prstGeom>
          <a:solidFill>
            <a:srgbClr val="00C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08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300">
                <a:solidFill>
                  <a:srgbClr val="00C9B8"/>
                </a:solidFill>
              </a:rPr>
              <a:t>TAM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3800">
                <a:solidFill>
                  <a:srgbClr val="FFFFFF"/>
                </a:solidFill>
              </a:rPr>
              <a:t>$47B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346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A0AFC4"/>
                </a:solidFill>
              </a:rPr>
              <a:t>Total Addressable 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3756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A0AFC4"/>
                </a:solidFill>
              </a:rPr>
              <a:t>Global AI productivity &amp;
collaboration software
(2028 projection)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1371600"/>
            <a:ext cx="3200400" cy="3200400"/>
          </a:xfrm>
          <a:prstGeom prst="roundRect">
            <a:avLst>
              <a:gd name="adj" fmla="val 5000"/>
            </a:avLst>
          </a:prstGeom>
          <a:solidFill>
            <a:srgbClr val="0F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09160" y="1371600"/>
            <a:ext cx="3200400" cy="73152"/>
          </a:xfrm>
          <a:prstGeom prst="rect">
            <a:avLst/>
          </a:prstGeom>
          <a:solidFill>
            <a:srgbClr val="38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1508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300">
                <a:solidFill>
                  <a:srgbClr val="389FFF"/>
                </a:solidFill>
              </a:rPr>
              <a:t>SAM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19202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3800">
                <a:solidFill>
                  <a:srgbClr val="FFFFFF"/>
                </a:solidFill>
              </a:rPr>
              <a:t>$8.2B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8346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A0AFC4"/>
                </a:solidFill>
              </a:rPr>
              <a:t>Serviceable Addressable 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333756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A0AFC4"/>
                </a:solidFill>
              </a:rPr>
              <a:t>Meeting intelligence &amp; AI
assistants for enterprise
knowledge workers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95360" y="1371600"/>
            <a:ext cx="3200400" cy="3200400"/>
          </a:xfrm>
          <a:prstGeom prst="roundRect">
            <a:avLst>
              <a:gd name="adj" fmla="val 5000"/>
            </a:avLst>
          </a:prstGeom>
          <a:solidFill>
            <a:srgbClr val="0F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95360" y="1371600"/>
            <a:ext cx="32004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0" y="1508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300">
                <a:solidFill>
                  <a:srgbClr val="10B981"/>
                </a:solidFill>
              </a:rPr>
              <a:t>SOM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19202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3800">
                <a:solidFill>
                  <a:srgbClr val="FFFFFF"/>
                </a:solidFill>
              </a:rPr>
              <a:t>$620M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28346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A0AFC4"/>
                </a:solidFill>
              </a:rPr>
              <a:t>Serviceable Obtainable Market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333756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A0AFC4"/>
                </a:solidFill>
              </a:rPr>
              <a:t>Year 3 reachable share —
English-speaking SMB &amp; mid-market
on Teams / Zoom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846320"/>
            <a:ext cx="11274552" cy="1691640"/>
          </a:xfrm>
          <a:prstGeom prst="roundRect">
            <a:avLst>
              <a:gd name="adj" fmla="val 5000"/>
            </a:avLst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937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00C9B8"/>
                </a:solidFill>
              </a:rPr>
              <a:t>Key Market Drivers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349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A0AFC4"/>
                </a:solidFill>
              </a:rPr>
              <a:t>• Remote &amp; hybrid work permanently expanded the meeting economy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596127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A0AFC4"/>
                </a:solidFill>
              </a:rPr>
              <a:t>• Microsoft Copilot &amp; Zoom AI created mass awareness of AI in meetings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4301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A0AFC4"/>
                </a:solidFill>
              </a:rPr>
              <a:t>• Enterprise AI spend growing 45% YoY — productivity tooling is top priority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08990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A0AFC4"/>
                </a:solidFill>
              </a:rPr>
              <a:t>• 600M+ Teams + Zoom daily active users = enormous distribution surface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3D526B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000">
                <a:solidFill>
                  <a:srgbClr val="FFFFFF"/>
                </a:solidFill>
              </a:rPr>
              <a:t>Business Model — Simple, Scalable SaaS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A0AFC4"/>
                </a:solidFill>
              </a:rPr>
              <a:t>Predictable recurring revenue with natural expansion from individual users to enterprise teams.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04672"/>
            <a:ext cx="1097280" cy="54864"/>
          </a:xfrm>
          <a:prstGeom prst="rect">
            <a:avLst/>
          </a:prstGeom>
          <a:solidFill>
            <a:srgbClr val="00C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4552" cy="18288"/>
          </a:xfrm>
          <a:prstGeom prst="rect">
            <a:avLst/>
          </a:prstGeom>
          <a:solidFill>
            <a:srgbClr val="3D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657600" cy="5029200"/>
          </a:xfrm>
          <a:prstGeom prst="roundRect">
            <a:avLst>
              <a:gd name="adj" fmla="val 5000"/>
            </a:avLst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657600" cy="73152"/>
          </a:xfrm>
          <a:prstGeom prst="rect">
            <a:avLst/>
          </a:prstGeom>
          <a:solidFill>
            <a:srgbClr val="A0A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A0AFC4"/>
                </a:solidFill>
              </a:rPr>
              <a:t>Starter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600">
                <a:solidFill>
                  <a:srgbClr val="FFFFFF"/>
                </a:solidFill>
              </a:rPr>
              <a:t>$29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632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A0AFC4"/>
                </a:solidFill>
              </a:rPr>
              <a:t>/user/month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429000"/>
            <a:ext cx="3291840" cy="27432"/>
          </a:xfrm>
          <a:prstGeom prst="rect">
            <a:avLst/>
          </a:prstGeom>
          <a:solidFill>
            <a:srgbClr val="3D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56616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A0AFC4"/>
                </a:solidFill>
              </a:rPr>
              <a:t>✓  1 meeting bot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041648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A0AFC4"/>
                </a:solidFill>
              </a:rPr>
              <a:t>✓  Chat responses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517136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A0AFC4"/>
                </a:solidFill>
              </a:rPr>
              <a:t>✓  7-day meeting history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992624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A0AFC4"/>
                </a:solidFill>
              </a:rPr>
              <a:t>✓  Email support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1371600"/>
            <a:ext cx="3657600" cy="5029200"/>
          </a:xfrm>
          <a:prstGeom prst="roundRect">
            <a:avLst>
              <a:gd name="adj" fmla="val 5000"/>
            </a:avLst>
          </a:prstGeom>
          <a:solidFill>
            <a:srgbClr val="0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1371600"/>
            <a:ext cx="3657600" cy="73152"/>
          </a:xfrm>
          <a:prstGeom prst="rect">
            <a:avLst/>
          </a:prstGeom>
          <a:solidFill>
            <a:srgbClr val="00C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26280" y="1444752"/>
            <a:ext cx="1097280" cy="384048"/>
          </a:xfrm>
          <a:prstGeom prst="roundRect">
            <a:avLst>
              <a:gd name="adj" fmla="val 5000"/>
            </a:avLst>
          </a:prstGeom>
          <a:solidFill>
            <a:srgbClr val="00C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146304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800">
                <a:solidFill>
                  <a:srgbClr val="0A1728"/>
                </a:solidFill>
              </a:rPr>
              <a:t>MOST POPULAR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17830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00C9B8"/>
                </a:solidFill>
              </a:rPr>
              <a:t>Pro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2402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600">
                <a:solidFill>
                  <a:srgbClr val="FFFFFF"/>
                </a:solidFill>
              </a:rPr>
              <a:t>$79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30632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A0AFC4"/>
                </a:solidFill>
              </a:rPr>
              <a:t>/user/month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26280" y="3429000"/>
            <a:ext cx="3291840" cy="27432"/>
          </a:xfrm>
          <a:prstGeom prst="rect">
            <a:avLst/>
          </a:prstGeom>
          <a:solidFill>
            <a:srgbClr val="3D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356616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FFFFFF"/>
                </a:solidFill>
              </a:rPr>
              <a:t>✓  Unlimited meetings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041648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FFFFFF"/>
                </a:solidFill>
              </a:rPr>
              <a:t>✓  Voice replies (TTS)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517136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FFFFFF"/>
                </a:solidFill>
              </a:rPr>
              <a:t>✓  90-day history + analytics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992624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FFFFFF"/>
                </a:solidFill>
              </a:rPr>
              <a:t>✓  Priority support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5468112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FFFFFF"/>
                </a:solidFill>
              </a:rPr>
              <a:t>✓  Custom trigger tuning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1371600"/>
            <a:ext cx="3657600" cy="5029200"/>
          </a:xfrm>
          <a:prstGeom prst="roundRect">
            <a:avLst>
              <a:gd name="adj" fmla="val 5000"/>
            </a:avLst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0" y="1371600"/>
            <a:ext cx="36576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17830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F59E0B"/>
                </a:solidFill>
              </a:rPr>
              <a:t>Enterprise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22402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600">
                <a:solidFill>
                  <a:srgbClr val="FFFFFF"/>
                </a:solidFill>
              </a:rPr>
              <a:t>Custom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0632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A0AFC4"/>
                </a:solidFill>
              </a:rPr>
              <a:t>pricing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12480" y="3429000"/>
            <a:ext cx="3291840" cy="27432"/>
          </a:xfrm>
          <a:prstGeom prst="rect">
            <a:avLst/>
          </a:prstGeom>
          <a:solidFill>
            <a:srgbClr val="3D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58200" y="356616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A0AFC4"/>
                </a:solidFill>
              </a:rPr>
              <a:t>✓  Multi-bot deployment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58200" y="4041648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A0AFC4"/>
                </a:solidFill>
              </a:rPr>
              <a:t>✓  SSO + compliance (SOC2)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200" y="4517136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A0AFC4"/>
                </a:solidFill>
              </a:rPr>
              <a:t>✓  Custom LLM (bring your own)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4992624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A0AFC4"/>
                </a:solidFill>
              </a:rPr>
              <a:t>✓  Dedicated success manager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8200" y="5468112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A0AFC4"/>
                </a:solidFill>
              </a:rPr>
              <a:t>✓  SLA guarantee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6492240"/>
            <a:ext cx="11274552" cy="274320"/>
          </a:xfrm>
          <a:prstGeom prst="roundRect">
            <a:avLst>
              <a:gd name="adj" fmla="val 5000"/>
            </a:avLst>
          </a:prstGeom>
          <a:solidFill>
            <a:srgbClr val="05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510528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10B981"/>
                </a:solidFill>
              </a:rPr>
              <a:t>Target: $1.2M ARR at 500 Pro seats  |  NRR &gt; 120% via seat expansion  |  CAC payback &lt; 6 months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3D526B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000">
                <a:solidFill>
                  <a:srgbClr val="FFFFFF"/>
                </a:solidFill>
              </a:rPr>
              <a:t>Competitive Landscape — We Play a Different Game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A0AFC4"/>
                </a:solidFill>
              </a:rPr>
              <a:t>Existing tools record and transcribe. MeetMind AI reasons and responds — in real time.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04672"/>
            <a:ext cx="1097280" cy="54864"/>
          </a:xfrm>
          <a:prstGeom prst="rect">
            <a:avLst/>
          </a:prstGeom>
          <a:solidFill>
            <a:srgbClr val="00C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4552" cy="18288"/>
          </a:xfrm>
          <a:prstGeom prst="rect">
            <a:avLst/>
          </a:prstGeom>
          <a:solidFill>
            <a:srgbClr val="3D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3794760" cy="438912"/>
          </a:xfrm>
          <a:prstGeom prst="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463040"/>
            <a:ext cx="3749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FFFFFF"/>
                </a:solidFill>
              </a:rPr>
              <a:t>Capability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417320"/>
            <a:ext cx="1691639" cy="438912"/>
          </a:xfrm>
          <a:prstGeom prst="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1463040"/>
            <a:ext cx="16459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FFFFFF"/>
                </a:solidFill>
              </a:rPr>
              <a:t>Otter.ai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1417320"/>
            <a:ext cx="1691639" cy="438912"/>
          </a:xfrm>
          <a:prstGeom prst="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463040"/>
            <a:ext cx="16459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FFFFFF"/>
                </a:solidFill>
              </a:rPr>
              <a:t>Fireflies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1417320"/>
            <a:ext cx="1691639" cy="438912"/>
          </a:xfrm>
          <a:prstGeom prst="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1463040"/>
            <a:ext cx="16459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FFFFFF"/>
                </a:solidFill>
              </a:rPr>
              <a:t>MS Copilot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46920" y="1417320"/>
            <a:ext cx="1783080" cy="438912"/>
          </a:xfrm>
          <a:prstGeom prst="rect">
            <a:avLst/>
          </a:prstGeom>
          <a:solidFill>
            <a:srgbClr val="00C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146304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0A1728"/>
                </a:solidFill>
              </a:rPr>
              <a:t>MeetMind AI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874519"/>
            <a:ext cx="3794760" cy="438912"/>
          </a:xfrm>
          <a:prstGeom prst="rect">
            <a:avLst/>
          </a:prstGeom>
          <a:solidFill>
            <a:srgbClr val="12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1920239"/>
            <a:ext cx="3749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A0AFC4"/>
                </a:solidFill>
              </a:rPr>
              <a:t>Real-time response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1874519"/>
            <a:ext cx="1691639" cy="438912"/>
          </a:xfrm>
          <a:prstGeom prst="rect">
            <a:avLst/>
          </a:prstGeom>
          <a:solidFill>
            <a:srgbClr val="12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1920239"/>
            <a:ext cx="1645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60" y="1874519"/>
            <a:ext cx="1691639" cy="438912"/>
          </a:xfrm>
          <a:prstGeom prst="rect">
            <a:avLst/>
          </a:prstGeom>
          <a:solidFill>
            <a:srgbClr val="12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1920239"/>
            <a:ext cx="1645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0" y="1874519"/>
            <a:ext cx="1691639" cy="438912"/>
          </a:xfrm>
          <a:prstGeom prst="rect">
            <a:avLst/>
          </a:prstGeom>
          <a:solidFill>
            <a:srgbClr val="12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09560" y="1920239"/>
            <a:ext cx="1645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F59E0B"/>
                </a:solidFill>
              </a:rPr>
              <a:t>Partial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46920" y="1874519"/>
            <a:ext cx="1783080" cy="438912"/>
          </a:xfrm>
          <a:prstGeom prst="rect">
            <a:avLst/>
          </a:prstGeom>
          <a:solidFill>
            <a:srgbClr val="0F2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0" y="1920239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350008"/>
            <a:ext cx="3794760" cy="438912"/>
          </a:xfrm>
          <a:prstGeom prst="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2395727"/>
            <a:ext cx="3749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A0AFC4"/>
                </a:solidFill>
              </a:rPr>
              <a:t>Proactive intelligence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80" y="2350008"/>
            <a:ext cx="1691639" cy="438912"/>
          </a:xfrm>
          <a:prstGeom prst="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3400" y="2395727"/>
            <a:ext cx="1645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80760" y="2350008"/>
            <a:ext cx="1691639" cy="438912"/>
          </a:xfrm>
          <a:prstGeom prst="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2395727"/>
            <a:ext cx="1645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63840" y="2350008"/>
            <a:ext cx="1691639" cy="438912"/>
          </a:xfrm>
          <a:prstGeom prst="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60" y="2395727"/>
            <a:ext cx="1645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46920" y="2350008"/>
            <a:ext cx="1783080" cy="438912"/>
          </a:xfrm>
          <a:prstGeom prst="rect">
            <a:avLst/>
          </a:prstGeom>
          <a:solidFill>
            <a:srgbClr val="0F2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92640" y="2395727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2825496"/>
            <a:ext cx="3794760" cy="438912"/>
          </a:xfrm>
          <a:prstGeom prst="rect">
            <a:avLst/>
          </a:prstGeom>
          <a:solidFill>
            <a:srgbClr val="12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2871215"/>
            <a:ext cx="3749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A0AFC4"/>
                </a:solidFill>
              </a:rPr>
              <a:t>Voice command reply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97680" y="2825496"/>
            <a:ext cx="1691639" cy="438912"/>
          </a:xfrm>
          <a:prstGeom prst="rect">
            <a:avLst/>
          </a:prstGeom>
          <a:solidFill>
            <a:srgbClr val="12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43400" y="2871215"/>
            <a:ext cx="1645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80760" y="2825496"/>
            <a:ext cx="1691639" cy="438912"/>
          </a:xfrm>
          <a:prstGeom prst="rect">
            <a:avLst/>
          </a:prstGeom>
          <a:solidFill>
            <a:srgbClr val="12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26480" y="2871215"/>
            <a:ext cx="1645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63840" y="2825496"/>
            <a:ext cx="1691639" cy="438912"/>
          </a:xfrm>
          <a:prstGeom prst="rect">
            <a:avLst/>
          </a:prstGeom>
          <a:solidFill>
            <a:srgbClr val="12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09560" y="2871215"/>
            <a:ext cx="1645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46920" y="2825496"/>
            <a:ext cx="1783080" cy="438912"/>
          </a:xfrm>
          <a:prstGeom prst="rect">
            <a:avLst/>
          </a:prstGeom>
          <a:solidFill>
            <a:srgbClr val="0F2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92640" y="2871215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3300984"/>
            <a:ext cx="3794760" cy="438912"/>
          </a:xfrm>
          <a:prstGeom prst="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3346703"/>
            <a:ext cx="3749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A0AFC4"/>
                </a:solidFill>
              </a:rPr>
              <a:t>Contradiction detection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97680" y="3300984"/>
            <a:ext cx="1691639" cy="438912"/>
          </a:xfrm>
          <a:prstGeom prst="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43400" y="3346703"/>
            <a:ext cx="1645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80760" y="3300984"/>
            <a:ext cx="1691639" cy="438912"/>
          </a:xfrm>
          <a:prstGeom prst="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26480" y="3346703"/>
            <a:ext cx="1645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863840" y="3300984"/>
            <a:ext cx="1691639" cy="438912"/>
          </a:xfrm>
          <a:prstGeom prst="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09560" y="3346703"/>
            <a:ext cx="1645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646920" y="3300984"/>
            <a:ext cx="1783080" cy="438912"/>
          </a:xfrm>
          <a:prstGeom prst="rect">
            <a:avLst/>
          </a:prstGeom>
          <a:solidFill>
            <a:srgbClr val="0F2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3346703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3776472"/>
            <a:ext cx="3794760" cy="438912"/>
          </a:xfrm>
          <a:prstGeom prst="rect">
            <a:avLst/>
          </a:prstGeom>
          <a:solidFill>
            <a:srgbClr val="12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1480" y="3822191"/>
            <a:ext cx="3749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A0AFC4"/>
                </a:solidFill>
              </a:rPr>
              <a:t>Decision state tracking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297680" y="3776472"/>
            <a:ext cx="1691639" cy="438912"/>
          </a:xfrm>
          <a:prstGeom prst="rect">
            <a:avLst/>
          </a:prstGeom>
          <a:solidFill>
            <a:srgbClr val="12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43400" y="3822191"/>
            <a:ext cx="1645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80760" y="3776472"/>
            <a:ext cx="1691639" cy="438912"/>
          </a:xfrm>
          <a:prstGeom prst="rect">
            <a:avLst/>
          </a:prstGeom>
          <a:solidFill>
            <a:srgbClr val="12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26480" y="3822191"/>
            <a:ext cx="1645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F59E0B"/>
                </a:solidFill>
              </a:rPr>
              <a:t>Limited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863840" y="3776472"/>
            <a:ext cx="1691639" cy="438912"/>
          </a:xfrm>
          <a:prstGeom prst="rect">
            <a:avLst/>
          </a:prstGeom>
          <a:solidFill>
            <a:srgbClr val="12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909560" y="3822191"/>
            <a:ext cx="1645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F59E0B"/>
                </a:solidFill>
              </a:rPr>
              <a:t>Summary only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46920" y="3776472"/>
            <a:ext cx="1783080" cy="438912"/>
          </a:xfrm>
          <a:prstGeom prst="rect">
            <a:avLst/>
          </a:prstGeom>
          <a:solidFill>
            <a:srgbClr val="0F2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92640" y="3822191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4251960"/>
            <a:ext cx="3794760" cy="438912"/>
          </a:xfrm>
          <a:prstGeom prst="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1480" y="4297680"/>
            <a:ext cx="3749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A0AFC4"/>
                </a:solidFill>
              </a:rPr>
              <a:t>Works during the meeting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297680" y="4251960"/>
            <a:ext cx="1691639" cy="438912"/>
          </a:xfrm>
          <a:prstGeom prst="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343400" y="4297680"/>
            <a:ext cx="1645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080760" y="4251960"/>
            <a:ext cx="1691639" cy="438912"/>
          </a:xfrm>
          <a:prstGeom prst="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126480" y="4297680"/>
            <a:ext cx="1645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863840" y="4251960"/>
            <a:ext cx="1691639" cy="438912"/>
          </a:xfrm>
          <a:prstGeom prst="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909560" y="4297680"/>
            <a:ext cx="1645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F59E0B"/>
                </a:solidFill>
              </a:rPr>
              <a:t>Partial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646920" y="4251960"/>
            <a:ext cx="1783080" cy="438912"/>
          </a:xfrm>
          <a:prstGeom prst="rect">
            <a:avLst/>
          </a:prstGeom>
          <a:solidFill>
            <a:srgbClr val="0F2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692640" y="429768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65760" y="4727448"/>
            <a:ext cx="3794760" cy="438912"/>
          </a:xfrm>
          <a:prstGeom prst="rect">
            <a:avLst/>
          </a:prstGeom>
          <a:solidFill>
            <a:srgbClr val="12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11480" y="4773168"/>
            <a:ext cx="3749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A0AFC4"/>
                </a:solidFill>
              </a:rPr>
              <a:t>Bring-your-own LLM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297680" y="4727448"/>
            <a:ext cx="1691639" cy="438912"/>
          </a:xfrm>
          <a:prstGeom prst="rect">
            <a:avLst/>
          </a:prstGeom>
          <a:solidFill>
            <a:srgbClr val="12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343400" y="4773168"/>
            <a:ext cx="1645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080760" y="4727448"/>
            <a:ext cx="1691639" cy="438912"/>
          </a:xfrm>
          <a:prstGeom prst="rect">
            <a:avLst/>
          </a:prstGeom>
          <a:solidFill>
            <a:srgbClr val="12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26480" y="4773168"/>
            <a:ext cx="1645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863840" y="4727448"/>
            <a:ext cx="1691639" cy="438912"/>
          </a:xfrm>
          <a:prstGeom prst="rect">
            <a:avLst/>
          </a:prstGeom>
          <a:solidFill>
            <a:srgbClr val="12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909560" y="4773168"/>
            <a:ext cx="1645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646920" y="4727448"/>
            <a:ext cx="1783080" cy="438912"/>
          </a:xfrm>
          <a:prstGeom prst="rect">
            <a:avLst/>
          </a:prstGeom>
          <a:solidFill>
            <a:srgbClr val="0F2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692640" y="477316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65760" y="5202936"/>
            <a:ext cx="3794760" cy="438912"/>
          </a:xfrm>
          <a:prstGeom prst="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11480" y="5248655"/>
            <a:ext cx="3749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A0AFC4"/>
                </a:solidFill>
              </a:rPr>
              <a:t>Open platform (API)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297680" y="5202936"/>
            <a:ext cx="1691639" cy="438912"/>
          </a:xfrm>
          <a:prstGeom prst="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343400" y="5248655"/>
            <a:ext cx="1645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080760" y="5202936"/>
            <a:ext cx="1691639" cy="438912"/>
          </a:xfrm>
          <a:prstGeom prst="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26480" y="5248655"/>
            <a:ext cx="1645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863840" y="5202936"/>
            <a:ext cx="1691639" cy="438912"/>
          </a:xfrm>
          <a:prstGeom prst="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909560" y="5248655"/>
            <a:ext cx="1645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646920" y="5202936"/>
            <a:ext cx="1783080" cy="438912"/>
          </a:xfrm>
          <a:prstGeom prst="rect">
            <a:avLst/>
          </a:prstGeom>
          <a:solidFill>
            <a:srgbClr val="0F2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692640" y="5248655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F59E0B"/>
                </a:solidFill>
              </a:rPr>
              <a:t>✓  (roadmap)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3D526B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000">
                <a:solidFill>
                  <a:srgbClr val="FFFFFF"/>
                </a:solidFill>
              </a:rPr>
              <a:t>Our Defensible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A0AFC4"/>
                </a:solidFill>
              </a:rPr>
              <a:t>Speed, context depth, and proprietary training data create compounding advantages as we scale.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04672"/>
            <a:ext cx="1097280" cy="54864"/>
          </a:xfrm>
          <a:prstGeom prst="rect">
            <a:avLst/>
          </a:prstGeom>
          <a:solidFill>
            <a:srgbClr val="00C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4552" cy="18288"/>
          </a:xfrm>
          <a:prstGeom prst="rect">
            <a:avLst/>
          </a:prstGeom>
          <a:solidFill>
            <a:srgbClr val="3D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5623560" cy="2331720"/>
          </a:xfrm>
          <a:prstGeom prst="roundRect">
            <a:avLst>
              <a:gd name="adj" fmla="val 5000"/>
            </a:avLst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91440" cy="2331720"/>
          </a:xfrm>
          <a:prstGeom prst="rect">
            <a:avLst/>
          </a:prstGeom>
          <a:solidFill>
            <a:srgbClr val="00C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00C9B8"/>
                </a:solidFill>
              </a:rPr>
              <a:t>Real-Time Context Graph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A0AFC4"/>
                </a:solidFill>
              </a:rPr>
              <a:t>Our Context Engine builds a live, structured model of the meeting — topics, decisions, concerns, open questions — updated every 5 seconds. No competitor operates on this time scale.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463040"/>
            <a:ext cx="5623560" cy="2331720"/>
          </a:xfrm>
          <a:prstGeom prst="roundRect">
            <a:avLst>
              <a:gd name="adj" fmla="val 5000"/>
            </a:avLst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463040"/>
            <a:ext cx="91440" cy="2331720"/>
          </a:xfrm>
          <a:prstGeom prst="rect">
            <a:avLst/>
          </a:prstGeom>
          <a:solidFill>
            <a:srgbClr val="38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6459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389FFF"/>
                </a:solidFill>
              </a:rPr>
              <a:t>Multi-Layer Intelligence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10312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A0AFC4"/>
                </a:solidFill>
              </a:rPr>
              <a:t>8-layer trigger detection: local probabilistic scoring → LLM adjudication → response generation. Reduces false positives by 70%+ vs. naive keyword matching.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77639"/>
            <a:ext cx="5623560" cy="2331720"/>
          </a:xfrm>
          <a:prstGeom prst="roundRect">
            <a:avLst>
              <a:gd name="adj" fmla="val 5000"/>
            </a:avLst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977639"/>
            <a:ext cx="91440" cy="2331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1605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10B981"/>
                </a:solidFill>
              </a:rPr>
              <a:t>Proprietary Training Signal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1772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A0AFC4"/>
                </a:solidFill>
              </a:rPr>
              <a:t>Every session generates labeled trigger events (what fired, what the LLM decided, whether it was sent). This flywheel improves the local model without expensive re-training.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977639"/>
            <a:ext cx="5623560" cy="2331720"/>
          </a:xfrm>
          <a:prstGeom prst="roundRect">
            <a:avLst>
              <a:gd name="adj" fmla="val 5000"/>
            </a:avLst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3977639"/>
            <a:ext cx="91440" cy="2331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41605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F59E0B"/>
                </a:solidFill>
              </a:rPr>
              <a:t>Voice-First 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61772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A0AFC4"/>
                </a:solidFill>
              </a:rPr>
              <a:t>The only assistant that responds by speaking in the meeting when addressed by name. This creates a qualitatively different user experience competitors cannot easily replicate.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3D526B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000">
                <a:solidFill>
                  <a:srgbClr val="FFFFFF"/>
                </a:solidFill>
              </a:rPr>
              <a:t>Traction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A0AFC4"/>
                </a:solidFill>
              </a:rPr>
              <a:t>MVP complete. Core technology validated. Ready to scale.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04672"/>
            <a:ext cx="1097280" cy="54864"/>
          </a:xfrm>
          <a:prstGeom prst="rect">
            <a:avLst/>
          </a:prstGeom>
          <a:solidFill>
            <a:srgbClr val="00C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4552" cy="18288"/>
          </a:xfrm>
          <a:prstGeom prst="rect">
            <a:avLst/>
          </a:prstGeom>
          <a:solidFill>
            <a:srgbClr val="3D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1371600" cy="713232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8191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900">
                <a:solidFill>
                  <a:srgbClr val="0A1728"/>
                </a:solidFill>
              </a:rPr>
              <a:t>✓ DONE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1417320"/>
            <a:ext cx="9720072" cy="713232"/>
          </a:xfrm>
          <a:prstGeom prst="roundRect">
            <a:avLst>
              <a:gd name="adj" fmla="val 5000"/>
            </a:avLst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0" y="1463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</a:rPr>
              <a:t>MVP Complete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801368"/>
            <a:ext cx="9326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A0AFC4"/>
                </a:solidFill>
              </a:rPr>
              <a:t>Full pipeline: join → listen → reason → respond, live on Teams &amp; Zoom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286000"/>
            <a:ext cx="1371600" cy="713232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45059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900">
                <a:solidFill>
                  <a:srgbClr val="0A1728"/>
                </a:solidFill>
              </a:rPr>
              <a:t>✓ DONE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11680" y="2286000"/>
            <a:ext cx="9720072" cy="713232"/>
          </a:xfrm>
          <a:prstGeom prst="roundRect">
            <a:avLst>
              <a:gd name="adj" fmla="val 5000"/>
            </a:avLst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94560" y="2331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</a:rPr>
              <a:t>178 Tests Passing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2670048"/>
            <a:ext cx="9326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A0AFC4"/>
                </a:solidFill>
              </a:rPr>
              <a:t>Unit, component, and end-to-end test suite. Zero regressions.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154680"/>
            <a:ext cx="1371600" cy="713232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31927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900">
                <a:solidFill>
                  <a:srgbClr val="0A1728"/>
                </a:solidFill>
              </a:rPr>
              <a:t>✓ DONE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11680" y="3154680"/>
            <a:ext cx="9720072" cy="713232"/>
          </a:xfrm>
          <a:prstGeom prst="roundRect">
            <a:avLst>
              <a:gd name="adj" fmla="val 5000"/>
            </a:avLst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94560" y="3200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</a:rPr>
              <a:t>Non-blocking 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3538728"/>
            <a:ext cx="9326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A0AFC4"/>
                </a:solidFill>
              </a:rPr>
              <a:t>Priority dispatcher eliminates voice command latency. Production-grade.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023359"/>
            <a:ext cx="1371600" cy="713232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187951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900">
                <a:solidFill>
                  <a:srgbClr val="0A1728"/>
                </a:solidFill>
              </a:rPr>
              <a:t>✓ DONE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11680" y="4023359"/>
            <a:ext cx="9720072" cy="713232"/>
          </a:xfrm>
          <a:prstGeom prst="roundRect">
            <a:avLst>
              <a:gd name="adj" fmla="val 5000"/>
            </a:avLst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94560" y="406907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</a:rPr>
              <a:t>LLM Adjudication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4407407"/>
            <a:ext cx="9326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A0AFC4"/>
                </a:solidFill>
              </a:rPr>
              <a:t>Two-stage AI pipeline reduces false positives before any message is sent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892040"/>
            <a:ext cx="1371600" cy="713232"/>
          </a:xfrm>
          <a:prstGeom prst="roundRect">
            <a:avLst>
              <a:gd name="adj" fmla="val 5000"/>
            </a:avLst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056631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900">
                <a:solidFill>
                  <a:srgbClr val="00C9B8"/>
                </a:solidFill>
              </a:rPr>
              <a:t>IN PROGRESS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011680" y="4892040"/>
            <a:ext cx="9720072" cy="713232"/>
          </a:xfrm>
          <a:prstGeom prst="roundRect">
            <a:avLst>
              <a:gd name="adj" fmla="val 5000"/>
            </a:avLst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94560" y="493775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</a:rPr>
              <a:t>Pilot Conversations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94560" y="5276088"/>
            <a:ext cx="9326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A0AFC4"/>
                </a:solidFill>
              </a:rPr>
              <a:t>Engaging 5 design partners in SMB tech sector for closed beta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760720"/>
            <a:ext cx="1371600" cy="713232"/>
          </a:xfrm>
          <a:prstGeom prst="roundRect">
            <a:avLst>
              <a:gd name="adj" fmla="val 5000"/>
            </a:avLst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92531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900">
                <a:solidFill>
                  <a:srgbClr val="A0AFC4"/>
                </a:solidFill>
              </a:rPr>
              <a:t>Q3 2026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011680" y="5760720"/>
            <a:ext cx="9720072" cy="713232"/>
          </a:xfrm>
          <a:prstGeom prst="roundRect">
            <a:avLst>
              <a:gd name="adj" fmla="val 5000"/>
            </a:avLst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94560" y="5806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</a:rPr>
              <a:t>Closed Beta Launch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4560" y="6144768"/>
            <a:ext cx="9326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A0AFC4"/>
                </a:solidFill>
              </a:rPr>
              <a:t>10 companies, structured feedback loop, NPS tracking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3D526B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000">
                <a:solidFill>
                  <a:srgbClr val="FFFFFF"/>
                </a:solidFill>
              </a:rPr>
              <a:t>Product Roadmap — 18-Month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A0AFC4"/>
                </a:solidFill>
              </a:rPr>
              <a:t>Staged rollout: validate → monetise → expand.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04672"/>
            <a:ext cx="1097280" cy="54864"/>
          </a:xfrm>
          <a:prstGeom prst="rect">
            <a:avLst/>
          </a:prstGeom>
          <a:solidFill>
            <a:srgbClr val="00C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4552" cy="18288"/>
          </a:xfrm>
          <a:prstGeom prst="rect">
            <a:avLst/>
          </a:prstGeom>
          <a:solidFill>
            <a:srgbClr val="3D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2743200" cy="5029200"/>
          </a:xfrm>
          <a:prstGeom prst="roundRect">
            <a:avLst>
              <a:gd name="adj" fmla="val 5000"/>
            </a:avLst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2743200" cy="73152"/>
          </a:xfrm>
          <a:prstGeom prst="rect">
            <a:avLst/>
          </a:prstGeom>
          <a:solidFill>
            <a:srgbClr val="00C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087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00C9B8"/>
                </a:solidFill>
              </a:rPr>
              <a:t>Q3 2026
Closed Beta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A0AFC4"/>
                </a:solidFill>
              </a:rPr>
              <a:t>›  10-company private beta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089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A0AFC4"/>
                </a:solidFill>
              </a:rPr>
              <a:t>›  Voice + chat response polish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8862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A0AFC4"/>
                </a:solidFill>
              </a:rPr>
              <a:t>›  Meeting analytics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6634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A0AFC4"/>
                </a:solidFill>
              </a:rPr>
              <a:t>›  Feedback-driven trigger tuning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417320"/>
            <a:ext cx="2743200" cy="5029200"/>
          </a:xfrm>
          <a:prstGeom prst="roundRect">
            <a:avLst>
              <a:gd name="adj" fmla="val 5000"/>
            </a:avLst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1417320"/>
            <a:ext cx="2743200" cy="73152"/>
          </a:xfrm>
          <a:prstGeom prst="rect">
            <a:avLst/>
          </a:prstGeom>
          <a:solidFill>
            <a:srgbClr val="38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15087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389FFF"/>
                </a:solidFill>
              </a:rPr>
              <a:t>Q4 2026
Public Launch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3317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A0AFC4"/>
                </a:solidFill>
              </a:rPr>
              <a:t>›  Self-serve sign-up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31089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A0AFC4"/>
                </a:solidFill>
              </a:rPr>
              <a:t>›  Teams &amp; Zoom app marketplace listing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8862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A0AFC4"/>
                </a:solidFill>
              </a:rPr>
              <a:t>›  Pro tier monetised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46634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A0AFC4"/>
                </a:solidFill>
              </a:rPr>
              <a:t>›  Basic team admin panel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1417320"/>
            <a:ext cx="2743200" cy="5029200"/>
          </a:xfrm>
          <a:prstGeom prst="roundRect">
            <a:avLst>
              <a:gd name="adj" fmla="val 5000"/>
            </a:avLst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1417320"/>
            <a:ext cx="27432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15087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10B981"/>
                </a:solidFill>
              </a:rPr>
              <a:t>Q1 2027
Expansion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3317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A0AFC4"/>
                </a:solidFill>
              </a:rPr>
              <a:t>›  Google Meet 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1089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A0AFC4"/>
                </a:solidFill>
              </a:rPr>
              <a:t>›  Enterprise SSO + compliance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8862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A0AFC4"/>
                </a:solidFill>
              </a:rPr>
              <a:t>›  Bring-your-own LLM (GPT-4o, Claude)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6634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A0AFC4"/>
                </a:solidFill>
              </a:rPr>
              <a:t>›  API for third-party integrations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35440" y="1417320"/>
            <a:ext cx="2743200" cy="5029200"/>
          </a:xfrm>
          <a:prstGeom prst="roundRect">
            <a:avLst>
              <a:gd name="adj" fmla="val 5000"/>
            </a:avLst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35440" y="1417320"/>
            <a:ext cx="27432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72600" y="15087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F59E0B"/>
                </a:solidFill>
              </a:rPr>
              <a:t>Q2 2027
Platform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23317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A0AFC4"/>
                </a:solidFill>
              </a:rPr>
              <a:t>›  MeetMind SDK for developers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72600" y="31089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A0AFC4"/>
                </a:solidFill>
              </a:rPr>
              <a:t>›  Post-meeting analytics &amp; coaching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2600" y="38862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A0AFC4"/>
                </a:solidFill>
              </a:rPr>
              <a:t>›  Custom trigger builder (no-code)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46634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A0AFC4"/>
                </a:solidFill>
              </a:rPr>
              <a:t>›  Series A fundraise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3D526B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000">
                <a:solidFill>
                  <a:srgbClr val="FFFFFF"/>
                </a:solidFill>
              </a:rPr>
              <a:t>The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A0AFC4"/>
                </a:solidFill>
              </a:rPr>
              <a:t>Domain expertise across AI, enterprise software, and go-to-market.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04672"/>
            <a:ext cx="1097280" cy="54864"/>
          </a:xfrm>
          <a:prstGeom prst="rect">
            <a:avLst/>
          </a:prstGeom>
          <a:solidFill>
            <a:srgbClr val="00C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4552" cy="18288"/>
          </a:xfrm>
          <a:prstGeom prst="rect">
            <a:avLst/>
          </a:prstGeom>
          <a:solidFill>
            <a:srgbClr val="3D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463040"/>
            <a:ext cx="9445752" cy="4114800"/>
          </a:xfrm>
          <a:prstGeom prst="roundRect">
            <a:avLst>
              <a:gd name="adj" fmla="val 5000"/>
            </a:avLst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463040"/>
            <a:ext cx="94457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600">
                <a:solidFill>
                  <a:srgbClr val="3D526B"/>
                </a:solidFill>
              </a:rPr>
              <a:t>[Team details to be added]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6072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200">
                <a:solidFill>
                  <a:srgbClr val="A0AFC4"/>
                </a:solidFill>
              </a:rPr>
              <a:t>We are actively building a world-class team. Advisory board and key hires available upon request.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3D526B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000">
                <a:solidFill>
                  <a:srgbClr val="FFFFFF"/>
                </a:solidFill>
              </a:rPr>
              <a:t>Funding Ask — $1.5M Seed 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A0AFC4"/>
                </a:solidFill>
              </a:rPr>
              <a:t>18 months of runway to reach $1M ARR and position for a Series A.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04672"/>
            <a:ext cx="1097280" cy="54864"/>
          </a:xfrm>
          <a:prstGeom prst="rect">
            <a:avLst/>
          </a:prstGeom>
          <a:solidFill>
            <a:srgbClr val="00C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4552" cy="18288"/>
          </a:xfrm>
          <a:prstGeom prst="rect">
            <a:avLst/>
          </a:prstGeom>
          <a:solidFill>
            <a:srgbClr val="3D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828800" y="1371600"/>
            <a:ext cx="8531352" cy="1005840"/>
          </a:xfrm>
          <a:prstGeom prst="roundRect">
            <a:avLst>
              <a:gd name="adj" fmla="val 5000"/>
            </a:avLst>
          </a:prstGeom>
          <a:solidFill>
            <a:srgbClr val="0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0" y="1371600"/>
            <a:ext cx="8531352" cy="73152"/>
          </a:xfrm>
          <a:prstGeom prst="rect">
            <a:avLst/>
          </a:prstGeom>
          <a:solidFill>
            <a:srgbClr val="00C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1463040"/>
            <a:ext cx="85313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400">
                <a:solidFill>
                  <a:srgbClr val="FFFFFF"/>
                </a:solidFill>
              </a:rPr>
              <a:t>Raising  $1,500,000  in Seed Funding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06040"/>
            <a:ext cx="11274552" cy="896112"/>
          </a:xfrm>
          <a:prstGeom prst="roundRect">
            <a:avLst>
              <a:gd name="adj" fmla="val 5000"/>
            </a:avLst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606040"/>
            <a:ext cx="91440" cy="896112"/>
          </a:xfrm>
          <a:prstGeom prst="rect">
            <a:avLst/>
          </a:prstGeom>
          <a:solidFill>
            <a:srgbClr val="00C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517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00C9B8"/>
                </a:solidFill>
              </a:rPr>
              <a:t>40%  —  Engineering ($600K)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632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A0AFC4"/>
                </a:solidFill>
              </a:rPr>
              <a:t>2 senior engineers: real-time systems + AI/ML. Platform hardening, enterprise features, Google Meet integration.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611880"/>
            <a:ext cx="11274552" cy="896112"/>
          </a:xfrm>
          <a:prstGeom prst="roundRect">
            <a:avLst>
              <a:gd name="adj" fmla="val 5000"/>
            </a:avLst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611880"/>
            <a:ext cx="91440" cy="896112"/>
          </a:xfrm>
          <a:prstGeom prst="rect">
            <a:avLst/>
          </a:prstGeom>
          <a:solidFill>
            <a:srgbClr val="38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6576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389FFF"/>
                </a:solidFill>
              </a:rPr>
              <a:t>25%  —  Go-to-Market ($375K)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0690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A0AFC4"/>
                </a:solidFill>
              </a:rPr>
              <a:t>Head of Sales + Marketing. Content, SEO, events, design partner onboarding.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617720"/>
            <a:ext cx="11274552" cy="896112"/>
          </a:xfrm>
          <a:prstGeom prst="roundRect">
            <a:avLst>
              <a:gd name="adj" fmla="val 5000"/>
            </a:avLst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617720"/>
            <a:ext cx="91440" cy="89611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6634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10B981"/>
                </a:solidFill>
              </a:rPr>
              <a:t>20%  —  AI &amp; Infrastructure ($300K)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0749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A0AFC4"/>
                </a:solidFill>
              </a:rPr>
              <a:t>LLM API costs, cloud infrastructure (AWS), data pipeline and analytics stack.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623560"/>
            <a:ext cx="11274552" cy="896112"/>
          </a:xfrm>
          <a:prstGeom prst="roundRect">
            <a:avLst>
              <a:gd name="adj" fmla="val 5000"/>
            </a:avLst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5623560"/>
            <a:ext cx="91440" cy="89611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6692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F59E0B"/>
                </a:solidFill>
              </a:rPr>
              <a:t>15%  —  Operations ($225K)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0807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A0AFC4"/>
                </a:solidFill>
              </a:rPr>
              <a:t>Legal, compliance (SOC2), finance, recruiting overhead.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00C9B8"/>
                </a:solidFill>
              </a:rPr>
              <a:t>Key Milestones This Funding Unlocks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A0AFC4"/>
                </a:solidFill>
              </a:rPr>
              <a:t>→ $1M ARR   →ˇ 500 paid seats   → Series A ready (Q2 2027)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3D526B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59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3600">
                <a:solidFill>
                  <a:srgbClr val="FFFFFF"/>
                </a:solidFill>
              </a:rPr>
              <a:t>The Future of Work Doesn't Have Bad Meetings.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834640"/>
            <a:ext cx="94457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400">
                <a:solidFill>
                  <a:srgbClr val="A0AFC4"/>
                </a:solidFill>
              </a:rPr>
              <a:t>Every meeting you have — whether a 1:1 or an all-hands — will have an AI co-pilot that remembers everything, catches what humans miss, and speaks up before it's too late.
MeetMind AI is building that future — one meeting at a time.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4663440"/>
            <a:ext cx="4873752" cy="54864"/>
          </a:xfrm>
          <a:prstGeom prst="rect">
            <a:avLst/>
          </a:prstGeom>
          <a:solidFill>
            <a:srgbClr val="00C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937760"/>
            <a:ext cx="107259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200">
                <a:solidFill>
                  <a:srgbClr val="00C9B8"/>
                </a:solidFill>
              </a:rPr>
              <a:t>Let's Build This Together.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3D526B"/>
                </a:solidFill>
              </a:rPr>
              <a:t>contact@meetmind.ai  •  meetmind.ai  •  Deck version 1.0  •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